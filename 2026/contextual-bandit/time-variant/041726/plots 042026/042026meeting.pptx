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Century Schoolbook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CenturySchoolbook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Schoolbook-italic.fntdata"/><Relationship Id="rId14" Type="http://schemas.openxmlformats.org/officeDocument/2006/relationships/font" Target="fonts/CenturySchoolbook-bold.fntdata"/><Relationship Id="rId16" Type="http://schemas.openxmlformats.org/officeDocument/2006/relationships/font" Target="fonts/CenturySchoolboo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77cb2359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77cb2359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814782e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814782e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7cb2359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77cb2359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77cb2359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77cb2359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77cb2359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77cb2359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77cb23596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77cb2359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58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487450" y="2063850"/>
            <a:ext cx="416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Priors</a:t>
            </a:r>
            <a:r>
              <a:rPr lang="en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: (0,0)</a:t>
            </a:r>
            <a:endParaRPr sz="18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</a:t>
            </a:r>
            <a:r>
              <a:rPr lang="en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= 200, n=50</a:t>
            </a:r>
            <a:endParaRPr sz="18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 covariance (off-diagonals)</a:t>
            </a:r>
            <a:endParaRPr sz="18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4974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 title="Figure_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963" y="534550"/>
            <a:ext cx="3961750" cy="4527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 title="Figure_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88" y="522175"/>
            <a:ext cx="3961750" cy="4527718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5322663" y="509775"/>
            <a:ext cx="300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Low</a:t>
            </a: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heterogeneity-to-noise ratio (0.05/0.5)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487450" y="48600"/>
            <a:ext cx="416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Optimal arm differs </a:t>
            </a:r>
            <a:r>
              <a:rPr b="1"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moderately</a:t>
            </a:r>
            <a:r>
              <a:rPr lang="en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by context</a:t>
            </a:r>
            <a:endParaRPr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965188" y="497400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</a:t>
            </a: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heterogeneity-to-noise ratio (0.5/0.5)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0" y="0"/>
            <a:ext cx="9144000" cy="4974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Figure_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825" y="537550"/>
            <a:ext cx="3969000" cy="4535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title="Figure_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7299" y="537554"/>
            <a:ext cx="4001701" cy="457337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2060250" y="48600"/>
            <a:ext cx="50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Optimal arm differs </a:t>
            </a:r>
            <a:r>
              <a:rPr b="1" lang="en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extremely</a:t>
            </a:r>
            <a:r>
              <a:rPr lang="en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by context</a:t>
            </a:r>
            <a:endParaRPr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057575" y="504700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</a:t>
            </a: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heterogeneity-to-noise ratio (1/0.5)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354863" y="504700"/>
            <a:ext cx="300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Low heterogeneity-to-noise ratio (0.01/0.5)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Figure_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3038" y="549200"/>
            <a:ext cx="3997935" cy="4569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3381938" y="504700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Moderate heterogeneity-to-noise ratio (0.25/0.5)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0" y="0"/>
            <a:ext cx="9144000" cy="497400"/>
          </a:xfrm>
          <a:prstGeom prst="rect">
            <a:avLst/>
          </a:prstGeom>
          <a:solidFill>
            <a:srgbClr val="3C78D8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2060250" y="48600"/>
            <a:ext cx="502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Optimal arm differs </a:t>
            </a:r>
            <a:r>
              <a:rPr b="1" lang="en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extremely</a:t>
            </a:r>
            <a:r>
              <a:rPr lang="en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by context</a:t>
            </a:r>
            <a:endParaRPr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4587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2487450" y="2340900"/>
            <a:ext cx="41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Additional Settings</a:t>
            </a:r>
            <a:endParaRPr sz="18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env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663" y="304800"/>
            <a:ext cx="440506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1101763" y="64750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Optimal arm never flips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94" name="Google Shape;94;p18" title="env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025" y="344150"/>
            <a:ext cx="4333408" cy="47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5497825" y="64750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Context coefficient zero for one arm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env_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9663" y="304800"/>
            <a:ext cx="440506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/>
        </p:nvSpPr>
        <p:spPr>
          <a:xfrm>
            <a:off x="1101763" y="101725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 variance in context coefficient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2" name="Google Shape;102;p19" title="env_4.png"/>
          <p:cNvPicPr preferRelativeResize="0"/>
          <p:nvPr/>
        </p:nvPicPr>
        <p:blipFill rotWithShape="1">
          <a:blip r:embed="rId4">
            <a:alphaModFix/>
          </a:blip>
          <a:srcRect b="0" l="1560" r="1560" t="0"/>
          <a:stretch/>
        </p:blipFill>
        <p:spPr>
          <a:xfrm>
            <a:off x="4717114" y="380513"/>
            <a:ext cx="4267211" cy="468727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5460825" y="147950"/>
            <a:ext cx="27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Correlated intercept and context coefficient</a:t>
            </a:r>
            <a:endParaRPr b="1" sz="8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